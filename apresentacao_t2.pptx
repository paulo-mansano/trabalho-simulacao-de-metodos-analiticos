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f36bb9bb504c31" /><Relationship Type="http://schemas.openxmlformats.org/officeDocument/2006/relationships/extended-properties" Target="/docProps/app.xml" Id="Rf2fe6b8e25d14498" /><Relationship Type="http://schemas.openxmlformats.org/officeDocument/2006/relationships/officeDocument" Target="/ppt/presentation.xml" Id="R1c62577c169f4f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c3afe3e6d24bba"/>
  </p:sldMasterIdLst>
  <p:notesMasterIdLst>
    <p:notesMasterId xmlns:r="http://schemas.openxmlformats.org/officeDocument/2006/relationships" r:id="R0fe8ea4550d5467b"/>
  </p:notesMasterIdLst>
  <p:sldIdLst>
    <p:sldId xmlns:r="http://schemas.openxmlformats.org/officeDocument/2006/relationships" id="256" r:id="Ra3203f87937a46f4"/>
    <p:sldId xmlns:r="http://schemas.openxmlformats.org/officeDocument/2006/relationships" id="257" r:id="Rdfa234220ed4404f"/>
    <p:sldId xmlns:r="http://schemas.openxmlformats.org/officeDocument/2006/relationships" id="258" r:id="R93d10dc951c54d05"/>
    <p:sldId xmlns:r="http://schemas.openxmlformats.org/officeDocument/2006/relationships" id="259" r:id="R168db4c8605e4139"/>
    <p:sldId xmlns:r="http://schemas.openxmlformats.org/officeDocument/2006/relationships" id="260" r:id="Rc6861b5e598e4feb"/>
    <p:sldId xmlns:r="http://schemas.openxmlformats.org/officeDocument/2006/relationships" id="261" r:id="Rd860e3830c524cfa"/>
    <p:sldId xmlns:r="http://schemas.openxmlformats.org/officeDocument/2006/relationships" id="262" r:id="Ra180440aa6e04eff"/>
    <p:sldId xmlns:r="http://schemas.openxmlformats.org/officeDocument/2006/relationships" id="263" r:id="R115a482eca5e4af3"/>
    <p:sldId xmlns:r="http://schemas.openxmlformats.org/officeDocument/2006/relationships" id="264" r:id="R10acb2cfa1984946"/>
    <p:sldId xmlns:r="http://schemas.openxmlformats.org/officeDocument/2006/relationships" id="265" r:id="Rbd8e4687f3264b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3afe3e6d24bba" /><Relationship Type="http://schemas.openxmlformats.org/officeDocument/2006/relationships/theme" Target="/ppt/theme/theme1.xml" Id="R1f05b7e5d4ec4204" /><Relationship Type="http://schemas.openxmlformats.org/officeDocument/2006/relationships/notesMaster" Target="/ppt/notesMasters/notesMaster1.xml" Id="R0fe8ea4550d5467b" /><Relationship Type="http://schemas.openxmlformats.org/officeDocument/2006/relationships/presProps" Target="/ppt/presProps.xml" Id="Rc663a99187db4be0" /><Relationship Type="http://schemas.openxmlformats.org/officeDocument/2006/relationships/viewProps" Target="/ppt/viewProps.xml" Id="R813c920387564b09" /><Relationship Type="http://schemas.openxmlformats.org/officeDocument/2006/relationships/tableStyles" Target="/ppt/tableStyles.xml" Id="R926dbf8f01aa42f7" /><Relationship Type="http://schemas.openxmlformats.org/officeDocument/2006/relationships/slide" Target="/ppt/slides/slide1.xml" Id="Ra3203f87937a46f4" /><Relationship Type="http://schemas.openxmlformats.org/officeDocument/2006/relationships/slide" Target="/ppt/slides/slide2.xml" Id="Rdfa234220ed4404f" /><Relationship Type="http://schemas.openxmlformats.org/officeDocument/2006/relationships/slide" Target="/ppt/slides/slide3.xml" Id="R93d10dc951c54d05" /><Relationship Type="http://schemas.openxmlformats.org/officeDocument/2006/relationships/slide" Target="/ppt/slides/slide4.xml" Id="R168db4c8605e4139" /><Relationship Type="http://schemas.openxmlformats.org/officeDocument/2006/relationships/slide" Target="/ppt/slides/slide5.xml" Id="Rc6861b5e598e4feb" /><Relationship Type="http://schemas.openxmlformats.org/officeDocument/2006/relationships/slide" Target="/ppt/slides/slide6.xml" Id="Rd860e3830c524cfa" /><Relationship Type="http://schemas.openxmlformats.org/officeDocument/2006/relationships/slide" Target="/ppt/slides/slide7.xml" Id="Ra180440aa6e04eff" /><Relationship Type="http://schemas.openxmlformats.org/officeDocument/2006/relationships/slide" Target="/ppt/slides/slide8.xml" Id="R115a482eca5e4af3" /><Relationship Type="http://schemas.openxmlformats.org/officeDocument/2006/relationships/slide" Target="/ppt/slides/slide9.xml" Id="R10acb2cfa1984946" /><Relationship Type="http://schemas.openxmlformats.org/officeDocument/2006/relationships/slide" Target="/ppt/slides/slide10.xml" Id="Rbd8e4687f3264b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4976e0d81c45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3d0d3bcd12477c" /><Relationship Type="http://schemas.openxmlformats.org/officeDocument/2006/relationships/notesMaster" Target="/ppt/notesMasters/notesMaster1.xml" Id="Rd59d8dfe96d746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a9b13093474cf3" /><Relationship Type="http://schemas.openxmlformats.org/officeDocument/2006/relationships/notesMaster" Target="/ppt/notesMasters/notesMaster1.xml" Id="R13600b2e024140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007e3d1602448c" /><Relationship Type="http://schemas.openxmlformats.org/officeDocument/2006/relationships/notesMaster" Target="/ppt/notesMasters/notesMaster1.xml" Id="R34de316016d04c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ca344b1c7d4a14" /><Relationship Type="http://schemas.openxmlformats.org/officeDocument/2006/relationships/notesMaster" Target="/ppt/notesMasters/notesMaster1.xml" Id="R0298bd06154f4f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e5c4fc6db24937" /><Relationship Type="http://schemas.openxmlformats.org/officeDocument/2006/relationships/notesMaster" Target="/ppt/notesMasters/notesMaster1.xml" Id="R9fa8671a360440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f5455ee790412f" /><Relationship Type="http://schemas.openxmlformats.org/officeDocument/2006/relationships/notesMaster" Target="/ppt/notesMasters/notesMaster1.xml" Id="Re069ca0ca6384d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28ca16a5944752" /><Relationship Type="http://schemas.openxmlformats.org/officeDocument/2006/relationships/notesMaster" Target="/ppt/notesMasters/notesMaster1.xml" Id="R565349c06c4940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4984f07d544ce2" /><Relationship Type="http://schemas.openxmlformats.org/officeDocument/2006/relationships/notesMaster" Target="/ppt/notesMasters/notesMaster1.xml" Id="R2b0dd0a6ae184f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cfc10e10164160" /><Relationship Type="http://schemas.openxmlformats.org/officeDocument/2006/relationships/notesMaster" Target="/ppt/notesMasters/notesMaster1.xml" Id="Rdc87819a88e042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972230d65e422d" /><Relationship Type="http://schemas.openxmlformats.org/officeDocument/2006/relationships/notesMaster" Target="/ppt/notesMasters/notesMaster1.xml" Id="Re8c1761b030842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b341f573047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2f532e7da014bc5" /><Relationship Type="http://schemas.openxmlformats.org/officeDocument/2006/relationships/slideLayout" Target="/ppt/slideLayouts/slideLayout2.xml" Id="Rbf57f64c68d047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57f64c68d047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36156b8ec94fc1" /><Relationship Type="http://schemas.openxmlformats.org/officeDocument/2006/relationships/notesSlide" Target="/ppt/notesSlides/notesSlide1.xml" Id="R6847e052848342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eac845ba824243" /><Relationship Type="http://schemas.openxmlformats.org/officeDocument/2006/relationships/notesSlide" Target="/ppt/notesSlides/notesSlide2.xml" Id="R6145cb76e1bf46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46b40685f746a5" /><Relationship Type="http://schemas.openxmlformats.org/officeDocument/2006/relationships/notesSlide" Target="/ppt/notesSlides/notesSlide3.xml" Id="R97ab55365ef149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fb38de969a4f7a" /><Relationship Type="http://schemas.openxmlformats.org/officeDocument/2006/relationships/notesSlide" Target="/ppt/notesSlides/notesSlide4.xml" Id="R219033a4a4c94c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0059bf392344ec" /><Relationship Type="http://schemas.openxmlformats.org/officeDocument/2006/relationships/notesSlide" Target="/ppt/notesSlides/notesSlide5.xml" Id="R22cc83a59ca447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9a4a6d26374173" /><Relationship Type="http://schemas.openxmlformats.org/officeDocument/2006/relationships/notesSlide" Target="/ppt/notesSlides/notesSlide6.xml" Id="Rd96173140ef940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d89687884849ea" /><Relationship Type="http://schemas.openxmlformats.org/officeDocument/2006/relationships/notesSlide" Target="/ppt/notesSlides/notesSlide7.xml" Id="R41e370234d824c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4eab3bd6a943cf" /><Relationship Type="http://schemas.openxmlformats.org/officeDocument/2006/relationships/notesSlide" Target="/ppt/notesSlides/notesSlide8.xml" Id="Red362523638b47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2dd805a67a48f8" /><Relationship Type="http://schemas.openxmlformats.org/officeDocument/2006/relationships/notesSlide" Target="/ppt/notesSlides/notesSlide9.xml" Id="Ra35dec0f40d24b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23117f3fea47d5" /><Relationship Type="http://schemas.openxmlformats.org/officeDocument/2006/relationships/notesSlide" Target="/ppt/notesSlides/notesSlide10.xml" Id="Rbbf5656eccf949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27721-A6FE-42F1-9718-36078603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5412F-20AD-4F64-A574-A059A4EF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T2 | AVALIACAO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A1C7A-EDBB-46BC-ADE2-41A0539A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7429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Simulacao de rede de filas em uma assistencia tecnica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0D03F-F472-4C05-9574-3842FA5F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657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Modelo atual versus modelo melhorado com retornos entre filas, perdas de clientes e indices de desempenho.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9B63F-3CA6-42E9-B2EA-EA9C13D5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69427-0341-44C7-8F05-4B25719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filas modeladas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001E9-B001-4CA1-B991-380256E6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434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9A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79A3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FF76B-07DD-4922-80B3-838DC0C5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196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rotas de retorno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DDFD8-7052-412E-AF2F-B79BF7C1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rPr>
              <a:t>100k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94E0E-65A9-43BC-89AA-310F52EE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96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numeros aleatorios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2F19C-75F3-4780-8DD6-77049593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1F"/>
                </a:solidFill>
                <a:latin typeface="Aptos"/>
                <a:ea typeface="Aptos"/>
                <a:cs typeface="Aptos"/>
              </a:rPr>
              <a:t>Andrei Boeck, Guilherme Tavares, Paulo Tavares e Thomaz Abrantes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75175-0132-486C-9244-9B83B253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962151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7F997-A879-463A-AF65-F3436B3F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C2770-15FB-4E57-8615-BAE318C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REALIDADE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C3381-0FD1-4F29-BCE2-3D4D97E9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A assistencia tecnica tem retrabalho e retornos entre etapas.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43BF1-FB89-4223-A124-C3E5F6DE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1010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D25E4-65A0-442D-9288-36ABD19D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0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rPr>
              <a:t>Q1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69C3E-4F88-4CE0-8A5A-5FF0090D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Recepcao e triagem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FF604-5355-4C5B-94B1-7F03B2D9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Clientes chegam do exterior e sao classificados.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21046-63E2-44AF-AB21-6E735C48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0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9A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79A30"/>
                </a:solidFill>
                <a:latin typeface="Aptos Display"/>
                <a:ea typeface="Aptos Display"/>
                <a:cs typeface="Aptos Display"/>
              </a:rPr>
              <a:t>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BD9EC-0580-4ACE-AF43-E4EF5E2A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Diagnostico tecnico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88BC0-E27D-4A9E-A04D-446346B6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Avaliacao identifica falha, orcamento e encaminhamento.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8141A-B11F-4BC0-8132-00A2A564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60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rPr>
              <a:t>Q3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D0C6D-C58F-4832-925E-FCE64820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Manutencao/reparo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CB82B-88E2-4008-9E96-B5FC66A2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Etapa mais longa, com possibilidade de fila e perdas.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665FA-4EB9-49DB-B99D-CEA8CE1D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60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D8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15D8A"/>
                </a:solidFill>
                <a:latin typeface="Aptos Display"/>
                <a:ea typeface="Aptos Display"/>
                <a:cs typeface="Aptos Display"/>
              </a:rPr>
              <a:t>Q4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23B2F-43B9-4BD6-AFE5-09D83739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Teste final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3F3BC-1171-4542-8D3E-C9758377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Equipamento pode sair do sistema ou voltar ao reparo.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CA257-80C9-4E61-BFF0-FD59D4F0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CA"/>
          </a:solidFill>
          <a:ln xmlns:a="http://schemas.openxmlformats.org/drawingml/2006/main" w="9525">
            <a:solidFill>
              <a:srgbClr val="C7BDA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38DD1-3103-4527-85D0-AC8BA7F5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Rede nao linear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0B506-AB5B-4CE3-9B2C-B631DDF8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Clientes podem retornar para filas anteriores apos diagnostico, reparo ou teste.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1D5E2-33C8-496D-B2CE-5D0B34F5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40336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C6A452-D433-415A-8A69-9961CC10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6B76D-8A80-43B6-9CEA-31932C25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MODELO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9D35C-409F-446D-B88F-82147168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A rede inicial tem quatro filas e tres pontos de retorno.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1723D-948A-42A3-86B2-E2505335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1010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4B51C-3ADF-4DA5-94DA-6D0C1226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790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BDA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1C229-49A4-4962-84AA-BF00F568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CE306-CCAF-4DFB-B4A1-C151E85C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Q1 Recepcao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DFADB-8A68-433C-BD1E-E615D2E5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G/G/1/10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A5E44-C39C-4223-B38F-1EA4A65A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62250"/>
            <a:ext cx="1790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BD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AC1D9-156D-4460-A538-BA16EDB0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622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B0A8B-1F63-42F5-9552-06613B0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337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Q2 Diagnostico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E138F-4BEA-4735-A7A4-B8FFC8B3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2897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G/G/1/8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33F0F-9B22-4104-915C-EB06788F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1790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BDA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CB331-8859-476A-ABE2-2646D302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9156C-6968-4B1D-B131-3B9FE67E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Q3 Reparo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E1098-7F73-433B-9517-5ADBDC0C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2897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G/G/2/12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B8347-8192-4500-BE48-15144BDE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62250"/>
            <a:ext cx="1790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BDA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02464-1B54-4C87-AE1A-E6A3F301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622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11615-068D-4DBC-9ADB-06069308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Q4 Teste final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6392E-A789-4067-8D02-0AA9838C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2897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G/G/1/6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27878-4334-4722-AB37-FBC4BD2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992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C3F02-2DDF-4440-A825-19BB2D9A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62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07487-26CC-4EC3-8AEE-C451F7FC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1F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707A40-42A5-4903-9A16-04A59D4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6CF49F-E1C9-4636-91A1-2BB84D30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62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3E1B9C-280E-4C6E-AF30-B5254B65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1F"/>
                </a:solidFill>
                <a:latin typeface="Aptos"/>
                <a:ea typeface="Aptos"/>
                <a:cs typeface="Aptos"/>
              </a:rPr>
              <a:t>0.80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FA1085-44ED-495F-9D84-4CC9DA6A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992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D1B6C-BF23-4A18-B9B9-7B1832BB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86D872-2F09-46A1-B022-AF8844CD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1F"/>
                </a:solidFill>
                <a:latin typeface="Aptos"/>
                <a:ea typeface="Aptos"/>
                <a:cs typeface="Aptos"/>
              </a:rPr>
              <a:t>0.85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940BFC-6CCF-4DA0-B8E1-1D881D98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099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0810BC-3E49-4A5F-A802-F76CAF07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C18D75-2227-4B7B-B872-431872D6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52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1F"/>
                </a:solidFill>
                <a:latin typeface="Aptos"/>
                <a:ea typeface="Aptos"/>
                <a:cs typeface="Aptos"/>
              </a:rPr>
              <a:t>U(3,7)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788E7C-036C-4597-AA0A-3C51606F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09925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E666F9-2792-4B8B-BC4E-02F0FD7C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162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A88330-C7E3-438D-BB5F-0499CF68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52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1F"/>
                </a:solidFill>
                <a:latin typeface="Aptos"/>
                <a:ea typeface="Aptos"/>
                <a:cs typeface="Aptos"/>
              </a:rPr>
              <a:t>0.75 saida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217466-1EBF-4D35-80FC-D4260A2C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1F"/>
                </a:solidFill>
                <a:latin typeface="Aptos"/>
                <a:ea typeface="Aptos"/>
                <a:cs typeface="Aptos"/>
              </a:rPr>
              <a:t>Q2 -&gt; Q1: 0.10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40481E-F2C4-423F-B002-C7889302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7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1F"/>
                </a:solidFill>
                <a:latin typeface="Aptos"/>
                <a:ea typeface="Aptos"/>
                <a:cs typeface="Aptos"/>
              </a:rPr>
              <a:t>Q3 -&gt; Q2: 0.15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42D6CA-1C83-4797-9C91-FA911779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01F"/>
                </a:solidFill>
                <a:latin typeface="Aptos"/>
                <a:ea typeface="Aptos"/>
                <a:cs typeface="Aptos"/>
              </a:rPr>
              <a:t>Q4 -&gt; Q3: 0.25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A76846-2771-4AD6-B3D9-C5A661BE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14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Q2 -&gt; saida: 0.10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ADFE9E-C140-4D83-ABB7-AA39E106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Chegada externa: primeira chegada no tempo 2.0; demais chegadas em Q1 seguem U(3, 7).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AF633B-F354-4FAC-A255-C7636F13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39840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9B268-BBE7-4EE3-BD4A-C0E66FF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B6966-98E8-49B9-AC53-5F51EA84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RESULTADO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F56C2-1B00-44DA-A4EB-EA434FE0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Q3 tem o maior tempo de resposta e Q2 opera praticamente cheia.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CFC4E-2019-4E37-A6ED-FDFFBDD4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1010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553D6-E428-48CF-A35B-D1EF3F55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57DC2-E700-457C-BD27-A2565484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050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Pop.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CDFF9-F164-4EFB-9AD4-F8CA4037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050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Vazao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CFB4F-40C4-4FF5-A653-BBC3751D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Util.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4B786-4909-4BE5-84FA-ACC82CA4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050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Resp.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32F57-C551-49F6-92DA-C5EA16C4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Perdas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AECDB-7CC6-4CCE-A7C8-5AF07770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EC673-D38D-4601-A30F-C1910504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0E6C9-4F92-4FB8-A3BF-B4EE9F54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0.831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2BD74-3DB7-406A-BF26-82C80E76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0.2096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14BF9-52DB-4B12-ABB9-BB8676C9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73.49%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E190E-BCA6-4CC7-8FC1-22804669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3.97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4CF34-3F13-4B2C-BEC3-BF45C140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EE177-7692-46AF-BFF4-F2A6EFF3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A2E50-7052-42C9-B91F-59978B63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7.772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F17A7-7658-4DA5-8B27-6095D2CE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33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0.0869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C18FC-EDAF-472A-9F46-DB1DE684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33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99.99%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332FC-E888-4F4D-A408-BA427DE3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33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89.48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F197D-A828-46A5-9A6B-2C969914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33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12703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56472-D477-4BD1-A818-0A1A8009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C8C2E-3E53-42D4-898E-209DC8DD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10.958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A313D-9B58-4AF1-96B6-63DF8D93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0.0667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E1615E-6E52-4255-A69D-2615D2E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99.98%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AC59E2-74D0-4C00-A7D0-B712F843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164.37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EB18D-1E81-4344-949E-4D61849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1659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0506F7-D406-4978-96FB-9A2A9851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E4CCF-C072-4B5B-A57C-422D5828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0.544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1A912-5F66-46D7-A8DC-273C6C51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528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0.0571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EE6046-AD42-4E16-89FB-99C1AB1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528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48.28%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CFA8C-913A-4567-9BF9-DB7D663D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528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9.53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D52F7-2E22-4989-82F7-6AB50A10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528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1CE474-17E1-42D2-9176-15885587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098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rPr>
              <a:t>Q3 passa a maior parte do tempo nos estados altos.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66931A-48DB-4137-A854-26FA0C79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623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Q2 tambem fica saturada, mas a primeira melhoria foi direcionada para a manutencao/reparo por concentrar maior tempo de resposta e perdas na fila.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33EB96-8CC5-4ABC-A773-86602C1B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9787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42D52-412F-46E7-A1DF-58F8D122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AE8B4-FE10-4E24-98EA-4CA11C44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ESTADOS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58047-61A6-4BA0-91C6-3FB5F0E9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As probabilidades de estado confirmam saturacao nas filas criticas.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7B5E1-123B-415E-8CC4-BD49F3C4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1010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62315-4CAC-4AEC-988C-C1D0B470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Q2 cheio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FC9EF-BAE6-469D-BD4D-A280C461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3A6A5-2BA0-4E0C-B250-9CF73422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479450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40DA8-8185-47B1-B696-E909FBB0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77.44%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3684F-250B-49A2-BFD6-168EEE9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Q3 em 10+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FF7A8-C83F-4AAE-B7C0-3B725A85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20DA0-2690-4460-8F42-88CF0777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570523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77922-2B06-44F8-8066-0AF2918F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92.15%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93C19-8A43-4263-9736-5E6330DA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Q3 cheio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94D66-87C0-4A71-87A6-C4A9881B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0B5E2-7461-487A-B710-BF81EBD9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211926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31807-9C8B-4475-B106-21C25AEC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34.23%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BAE36-E831-47DC-A0D7-2896ECB7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Q4 vazio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FFFC7-2DE5-42F0-8FDF-F94E403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30B1D-63E3-44B1-8090-A5ED2912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320211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E4566-12F6-45BA-B778-34F43A8A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196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51.72%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208EE-A747-4628-9F0B-9AEE4DC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Para Q3 em 10+, foram somadas as probabilidades dos estados 10, 11 e 12 do modelo inicial.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0BF0E-C063-4DE6-BCD1-D6A70A89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65483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46656-97B8-4520-930C-BE8ED5A1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CE8C1-D1A1-4B47-BAFE-7CE0B9E9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MELHORIA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B4AC3-0925-4D0B-A3A9-F09A6375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A proposta aumenta capacidade de reparo e reduz retrabalho.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19C05-D028-478F-AC6B-EB8D7940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1010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036D5-0636-4380-BF92-3A3F2D47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Parametro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EE655-26C2-4715-804F-1A227C2D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526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F4273-0C25-455A-B7F7-8662FFE6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526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Melhorado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26922-7635-4A2D-95BC-848FC93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F1F94-6145-442B-A85B-34C2C5F5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Servidores Q3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9CE2F-8891-43A5-94C8-AE5D858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717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99E62-BF8A-452F-BFD4-027323B8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717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8A35F-32FA-4498-A330-D5927E90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Capacidade Q3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1EAA8-FBFD-4E03-A6E1-DB7F1E95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E7C4C-5EDF-4F1E-9601-A7864533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93917-1AB6-4B58-85CB-1A8FDFDE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Atendimento Q3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F3BC2-CE9C-4C4E-85F4-D92E67CA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908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U(20,40)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879FA-055F-4A4B-BF22-691F7650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908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U(18,32)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622CB-438E-4B2B-B797-DD18652B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Q4 -&gt; Q3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41893-0340-4FAF-99B8-35418B8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00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0D0C5-05BE-4504-AFD2-C826BC07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5F4A2-DAC3-44CE-BF3E-0F8389B2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Q4 -&gt; saida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47615-23B6-43EA-81E9-56DD3119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100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2D432-BBA1-4C1D-893F-973951D1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100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0.85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51A3D1-634A-495C-994B-5D9C8A6F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CA"/>
          </a:solidFill>
          <a:ln xmlns:a="http://schemas.openxmlformats.org/drawingml/2006/main" w="9525">
            <a:solidFill>
              <a:srgbClr val="C7BDA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18E5E-C5C9-4906-923D-2FF5148B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rPr>
              <a:t>Q3 vira G/G/3/15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AD4D0C-4927-4915-8595-911DB750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Mais servidores, mais capacidade e menor retrabalho.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C81B0-D33C-496E-9B9B-4B93FF17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37918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F4FF6-C26E-4DD1-863B-86637F1A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35AD2-09FD-4EA0-91E9-CE13E799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RESULTADO MELHORADO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FFEF7-4280-40E6-98A5-B0ED0647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Q3 deixa de ser gargalo, mas Q2 segue no limite.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DAEE7-18D0-4885-BFED-4911E3C0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1010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B4155-BF84-4DEF-9743-7A51F05F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AB326-0A36-4A47-87CC-4F1158CF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050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Pop.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08DCA-8B91-46DD-9426-759BC51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050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Vazao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DBAAC-CEA5-4EEC-A591-C465D01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Util.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53517-AB0C-4D7C-891A-798AAF3D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050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Resp.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E4CDA-8893-4B27-83AA-22B3EA9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Perdas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7A51A-0283-40E7-8F8B-D13A0567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03B91-7CD3-41C0-AAAA-B74157D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0E643-CECB-4D0A-9203-354C0871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0.814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78D79-234A-482C-9D28-B99C9456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0.2085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4F635-AB1B-489E-9076-02EAE88B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73.00%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C0439-8623-4D5C-BCE4-EFFB9ACF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3.91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4819A-C197-40E1-BFDC-EBFB6276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AB7D0-2ED6-4DB9-B383-C1375700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571E0-96D8-4C04-A56E-19F347EA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7.770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EAE2D-D601-44E1-8777-83D57488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33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0.0869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01606-1B41-474C-A661-BA0E9335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33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99.99%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6C47E-3B3A-48F4-8F29-9DF97C85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33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89.46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7E82B-7840-439A-AE7A-663CCA4C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33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12218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55AC1-CF4A-4154-9BCA-20632AB7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42F5B-A6C5-4E86-A96E-45385D0E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2.063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FF848-268C-4509-BC4D-0EA73C6E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0.0797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5ECA59-8D8D-42A1-AB33-5B4392BB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66.48%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6EFB5-9CB1-43C4-8085-F9921D4D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25.89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97A43-5871-4D6A-A4A4-40102F42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FC1CA9-8EE0-454B-A3B7-3285BF8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CD745-5536-4763-BFBB-40B6C9A4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0.717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FF8732-5768-4244-86C4-9B206319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528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0.0684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307AE6-FA88-4474-8716-3BF02CE8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528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58.16%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31686E-CD91-4E5A-9427-8C459719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528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10.49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92391C-FE7A-4745-8FDC-9E94BE7C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528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A6B72C-3FA7-4D67-B19F-E85BEF74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098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rPr>
              <a:t>A melhoria eliminou perdas em Q3.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29F94B-A4EE-40D6-8B60-AC106538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623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A utilizacao de Q3 caiu para 66.48%, enquanto Q2 permaneceu quase totalmente ocupado.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825170-1000-41AC-BAD5-8B5ECCDA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8066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70F2D4-666D-491E-9BDE-223AD3AB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4D986-3538-4D9C-AD6A-0E4D90EB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COMPARACAO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42654-95AB-47A4-8C13-D41F0504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A melhoria reduz perdas totais e derruba o tempo de resposta de Q3.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B5782-9ADC-4985-8B2A-F4862402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1010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9E8C4-C349-40C3-A6F5-F9B14A11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Tempo de resposta Q3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AEF05-0FCF-4560-967F-29D807FF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rPr>
              <a:t>-84.25%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204E2-7BE2-473F-9240-BA6337EF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71700"/>
            <a:ext cx="3209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80014-C87B-4697-88B2-04ACD904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527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Perdas em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23A80-5621-4F19-8E33-7907548D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rPr>
              <a:t>-100.00%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EF225-CE42-4413-9B69-EE0B0D2B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A296B-058B-47A8-8E59-382AFA78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Perdas totais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64626-0B87-4DC6-84C6-D8153227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rPr>
              <a:t>-14.93%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34E1E-FA31-45BC-9810-038168A7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81400"/>
            <a:ext cx="56883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7E3F5-B79E-4E72-9537-0F58AD2D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24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Taxa de perdas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FD422-1E79-4515-8FB6-E2FBF1AA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rPr>
              <a:t>-11.17%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6E389-0AAD-40F8-BCFC-30896531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42557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E937E-25CC-42F4-BDAD-3DB106E6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672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Tempo de resposta Q4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56B44-EF0C-4C42-8951-A3DD9A87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rPr>
              <a:t>+10.02%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92A4F-0B91-41CC-9FDE-FC9F86D2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91100"/>
            <a:ext cx="38176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D58CC-79E8-4DC7-990A-AB4154C9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62625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A piora em Q4 e pequena em escala absoluta, mas foi mantida na comparacao para nao esconder efeitos colaterais.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C6632-BAA3-48AB-A2A3-DF8BAD2C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57527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66116-B95C-49BB-91CA-9889F131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2C897-4EC5-41FC-88CE-1C800882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CONCLUSAO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7AF6D-5D75-4227-9E89-A7DD42E5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O gargalo de reparo foi tratado; o proximo ponto de melhoria e Q2.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D4FF0-6F93-480A-A5BB-3EC7951F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1010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837EC-D579-4C9C-810F-49A41CA7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rPr>
              <a:t>-84%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82899-F339-42FC-BF43-1CFE975C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tempo de resposta em Q3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A2D17-034E-4F4F-A9FD-5CEF260B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431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80BC0-1880-4185-9A44-D72D8DFB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perdas em Q3 no modelo melhorado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0F8FE-909E-4A41-8AEB-19E80EE3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7A6D"/>
                </a:solidFill>
                <a:latin typeface="Aptos Display"/>
                <a:ea typeface="Aptos Display"/>
                <a:cs typeface="Aptos Display"/>
              </a:rPr>
              <a:t>-15%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E2FD0-9067-489E-B077-3D4AD049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perdas totais aproximadas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0210B-DB5F-4383-B938-3D0A4BEF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95D32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5C9F7-B6E3-4C11-A0F4-22112625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utilizacao ainda critica em 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46CC8-D566-4F96-9DAD-A522A38A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A proposta melhora a etapa mais lenta e reduz perdas do sistema. Ainda assim, Q2 continua saturada, entao um ciclo futuro deveria avaliar mais servidores, aumento de capacidade ou reducao do tempo medio de diagnostico.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E99C1-A958-4AA4-860E-D50E23C6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18618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051F5-CB26-43E2-B5A3-DCC028A6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0C53E-11D7-4F9A-A85E-1B9C77B7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D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D32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D90DF-F202-44FA-9007-8CF7A038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Arquivos enviados junto com a apresentacao.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4471A-D6AA-480A-8899-D71C24EA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1010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73324-6BA1-4451-9ECA-5BE3CD41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DA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6A78F-0AC4-49B8-B644-EC16CA8B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SimuladorFila.java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54B2B-8E39-41BA-B2D5-4D90FECE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DA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A828F-FAEB-4A85-9A89-1C8BE62B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669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modelo_inicial.yml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ABF5A-E271-4A10-A07B-29F296DC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D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54AF5-601E-4D53-A6C6-2E030389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modelo_melhorado.yml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F0046-751B-404C-A791-17D7B008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D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8591A-C3A4-4F52-8490-450A7F4B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670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resultados_simulacao.txt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70600-058E-4772-9FA3-D3252FC9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DA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84AB1-94D6-479C-8515-8704A16D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apresentacao_t2.md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FD2E5-1B3D-4764-8C36-A7D70EF2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D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20073-FE5F-440E-A90E-83AF733C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672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F"/>
                </a:solidFill>
                <a:latin typeface="Aptos"/>
                <a:ea typeface="Aptos"/>
                <a:cs typeface="Aptos"/>
              </a:rPr>
              <a:t>roteiro_video.md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8EBAE-F408-4AE1-B5F2-DA8CFF63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O link do video deve ser adicionado apos a gravacao e envio ao YouTube.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A747C-AB4B-4A15-9F96-2B03CDF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0937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2026-05-13T03:19:32.6180000Z</dcterms:created>
  <dcterms:modified xsi:type="dcterms:W3CDTF">2026-05-13T03:19:32.6180000Z</dcterms:modified>
</coreProperties>
</file>